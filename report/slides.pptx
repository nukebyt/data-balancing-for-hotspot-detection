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Acc.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 Batch</c:v>
                  </c:pt>
                  <c:pt idx="5">
                    <c:v>Combined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0.844</c:v>
                </c:pt>
                <c:pt idx="1">
                  <c:v>0.779</c:v>
                </c:pt>
                <c:pt idx="2">
                  <c:v>0.923</c:v>
                </c:pt>
                <c:pt idx="3">
                  <c:v>0.887</c:v>
                </c:pt>
                <c:pt idx="4">
                  <c:v>0.945</c:v>
                </c:pt>
                <c:pt idx="5">
                  <c:v>0.926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 Batch</c:v>
                  </c:pt>
                  <c:pt idx="5">
                    <c:v>Combined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0.781</c:v>
                </c:pt>
                <c:pt idx="1">
                  <c:v>0.642</c:v>
                </c:pt>
                <c:pt idx="2">
                  <c:v>0.949</c:v>
                </c:pt>
                <c:pt idx="3">
                  <c:v>0.871</c:v>
                </c:pt>
                <c:pt idx="4">
                  <c:v>0.98</c:v>
                </c:pt>
                <c:pt idx="5">
                  <c:v>0.939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Specificity</c:v>
                </c:pt>
              </c:strCache>
            </c:strRef>
          </c:tx>
          <c:spPr>
            <a:solidFill>
              <a:srgbClr val="6A8C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 Batch</c:v>
                  </c:pt>
                  <c:pt idx="5">
                    <c:v>Combined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0.906</c:v>
                </c:pt>
                <c:pt idx="1">
                  <c:v>0.915</c:v>
                </c:pt>
                <c:pt idx="2">
                  <c:v>0.897</c:v>
                </c:pt>
                <c:pt idx="3">
                  <c:v>0.903</c:v>
                </c:pt>
                <c:pt idx="4">
                  <c:v>0.909</c:v>
                </c:pt>
                <c:pt idx="5">
                  <c:v>0.913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RUS</c:v>
                  </c:pt>
                  <c:pt idx="2">
                    <c:v>ROS</c:v>
                  </c:pt>
                  <c:pt idx="3">
                    <c:v>ROS+Aug</c:v>
                  </c:pt>
                  <c:pt idx="4">
                    <c:v>Bal. Batch</c:v>
                  </c:pt>
                  <c:pt idx="5">
                    <c:v>Combined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0.503</c:v>
                </c:pt>
                <c:pt idx="1">
                  <c:v>0.228</c:v>
                </c:pt>
                <c:pt idx="2">
                  <c:v>0.456</c:v>
                </c:pt>
                <c:pt idx="3">
                  <c:v>0.453</c:v>
                </c:pt>
                <c:pt idx="4">
                  <c:v>0.446</c:v>
                </c:pt>
                <c:pt idx="5">
                  <c:v>0.491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0.698</c:v>
                </c:pt>
                <c:pt idx="2">
                  <c:v>0.949</c:v>
                </c:pt>
                <c:pt idx="3">
                  <c:v>0.845</c:v>
                </c:pt>
                <c:pt idx="4">
                  <c:v>0.914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RUS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0.808</c:v>
                </c:pt>
                <c:pt idx="1">
                  <c:v>0.947</c:v>
                </c:pt>
                <c:pt idx="2">
                  <c:v>0.949</c:v>
                </c:pt>
                <c:pt idx="3">
                  <c:v>0.688</c:v>
                </c:pt>
                <c:pt idx="4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ROS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0.806</c:v>
                </c:pt>
                <c:pt idx="1">
                  <c:v>0.978</c:v>
                </c:pt>
                <c:pt idx="2">
                  <c:v>0.954</c:v>
                </c:pt>
                <c:pt idx="3">
                  <c:v>0.964</c:v>
                </c:pt>
                <c:pt idx="4">
                  <c:v>0.914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ROS+Aug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0.808</c:v>
                </c:pt>
                <c:pt idx="1">
                  <c:v>0.992</c:v>
                </c:pt>
                <c:pt idx="2">
                  <c:v>0.967</c:v>
                </c:pt>
                <c:pt idx="3">
                  <c:v>0.961</c:v>
                </c:pt>
                <c:pt idx="4">
                  <c:v>0.707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Bal. Batch</c:v>
                </c:pt>
              </c:strCache>
            </c:strRef>
          </c:tx>
          <c:spPr>
            <a:solidFill>
              <a:srgbClr val="8172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0.815</c:v>
                </c:pt>
                <c:pt idx="1">
                  <c:v>0.981</c:v>
                </c:pt>
                <c:pt idx="2">
                  <c:v>0.972</c:v>
                </c:pt>
                <c:pt idx="3">
                  <c:v>0.97</c:v>
                </c:pt>
                <c:pt idx="4">
                  <c:v>0.986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Combined</c:v>
                </c:pt>
              </c:strCache>
            </c:strRef>
          </c:tx>
          <c:spPr>
            <a:solidFill>
              <a:srgbClr val="CCB97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B1</c:v>
                  </c:pt>
                  <c:pt idx="1">
                    <c:v>B2</c:v>
                  </c:pt>
                  <c:pt idx="2">
                    <c:v>B3</c:v>
                  </c:pt>
                  <c:pt idx="3">
                    <c:v>B4</c:v>
                  </c:pt>
                  <c:pt idx="4">
                    <c:v>B5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0.806</c:v>
                </c:pt>
                <c:pt idx="1">
                  <c:v>0.992</c:v>
                </c:pt>
                <c:pt idx="2">
                  <c:v>0.903</c:v>
                </c:pt>
                <c:pt idx="3">
                  <c:v>0.966</c:v>
                </c:pt>
                <c:pt idx="4">
                  <c:v>0.961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188720"/>
            <a:ext cx="4572000" cy="45720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2926080" cy="2926080"/>
          </a:xfrm>
          <a:prstGeom prst="ellipse">
            <a:avLst/>
          </a:prstGeom>
          <a:solidFill>
            <a:srgbClr val="E63946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BALANCING &amp; AUGMENTATION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STRATEGIES FOR HOTSPOT DETECTION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Lithography Hotspot Detection on the ICCAD-12 Benchmark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4160520"/>
            <a:ext cx="1463040" cy="36576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44348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BEVD402L — AI and Machine Learning for IC  |  Digital Assignment II  |  Group 11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Priyanuj Boruah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23BVD1066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Kartik Aggarwal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23BVD1067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7190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122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Lithography hotspots &amp; why detecting them is hard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92240" y="16002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2084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171907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Challenge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21122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in ICCAD-12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54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1363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5295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balancing strategy works best?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92240" y="301752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3154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31363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35295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CNN backbone + 6 balancing strategies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572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5537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9469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comparison across 5 benchmarks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92240" y="443484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4F5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20840" y="4572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45537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Ablation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49469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works, and why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Lithography Hotspots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Photo-lithography prints chip layouts onto silicon.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transistors shrink, some layout patterns become too fine to print correctly.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79192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53288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“hotspot” is a layout region likely to print as a broken (open) or shorted (bridging) circuit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9981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hotspots early avoids costly re-spins and mask corrections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6674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lithography simulation is accurate but far too slow for full-chip checks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91440" cy="914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23367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Machine learning offers a fast screening alternative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1554480"/>
            <a:ext cx="4663440" cy="4206240"/>
          </a:xfrm>
          <a:prstGeom prst="roundRect">
            <a:avLst>
              <a:gd name="adj" fmla="val 1304"/>
            </a:avLst>
          </a:prstGeom>
          <a:solidFill>
            <a:srgbClr val="141B4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0" y="1737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LAYOUT CLIP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0664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18388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15600" y="2194560"/>
            <a:ext cx="164592" cy="3017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7406640" y="3383280"/>
            <a:ext cx="3749040" cy="164592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Shape 18"/>
          <p:cNvSpPr/>
          <p:nvPr/>
        </p:nvSpPr>
        <p:spPr>
          <a:xfrm>
            <a:off x="8823960" y="3154680"/>
            <a:ext cx="822960" cy="822960"/>
          </a:xfrm>
          <a:prstGeom prst="ellipse">
            <a:avLst/>
          </a:prstGeom>
          <a:solidFill>
            <a:srgbClr val="E63946">
              <a:alpha val="45000"/>
            </a:srgbClr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23760" y="4709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(pinch risk)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Challenge: Severe Class Imbalance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ICCAD-12 test-set imbalance ratio (Non-Hotspot : Hotspot)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20.7:1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4,679 NHS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07208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44368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82.9:1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 HS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44368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41,298 NHS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65776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02936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57216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25.6:1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202936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1808 HS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46,333 NHS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24344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61504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15784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180.2:1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461504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61504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 HS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61504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31,890 NHS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582912" y="1783080"/>
            <a:ext cx="2121408" cy="3291840"/>
          </a:xfrm>
          <a:prstGeom prst="roundRect">
            <a:avLst>
              <a:gd name="adj" fmla="val 3448"/>
            </a:avLst>
          </a:prstGeom>
          <a:solidFill>
            <a:srgbClr val="E6394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0072" y="19659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74352" y="2468880"/>
            <a:ext cx="193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471.4:1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720072" y="3200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: HS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720072" y="411480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HS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720072" y="4480560"/>
            <a:ext cx="184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19,327 NHS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that always predicts “Non-Hotspot” scores &gt;99% raw accuracy on B5 — and catches zero hotspots. This is why Balanced Accuracy, not accuracy, drives this whole study.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574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data-balancing strategy provides the most effective improvement for highly imbalanced ICCAD-12 hotspot detection?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focus: undersampling · oversampling · augmentation · balanced mini-batches · combinations — compared on an identical backbone, across all 5 benchmarks independently.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Classification Backbone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lightweight CNN for every strategy — isolates the effect of the training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64×64×1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907792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639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99232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Block 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999232" y="2606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Conv(3×3,12)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+BN +ELU +Pool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75504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66944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606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43216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639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34656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Block 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34656" y="2606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Conv(3×3,12)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+BN +ELU +Pool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10928" y="2011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02368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Head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02368" y="2606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Flatten→Dropout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0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→FC(10)→FC(1)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93192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4F5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40416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8,649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572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parameters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393192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4F5F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40416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PyTorch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4572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55280" y="393192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4F5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83880" y="40416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epochs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4572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Nadam optimizer, fixed seed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440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of magnitude as the reference paper's custom CNN (12,873 params) — rescaled from 224×224×3 to 64×64×1 so the full experiment grid is tractable on CPU.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Data Strategies, One Fair Comparison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118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647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imbalance, no intervention — the reference point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6118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9" name="Shape 7"/>
          <p:cNvSpPr/>
          <p:nvPr/>
        </p:nvSpPr>
        <p:spPr>
          <a:xfrm>
            <a:off x="4526280" y="1783080"/>
            <a:ext cx="502920" cy="502920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7647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Undersampling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7744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majority (NHS) samples down to target ratio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6118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1783080"/>
            <a:ext cx="502920" cy="502920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7647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Oversampling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37744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minority (HS) samples up to target ratio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91840"/>
            <a:ext cx="36118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3474720"/>
            <a:ext cx="502920" cy="502920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45643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 + Augmentation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0690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+ flip/rotate HS so copies aren't pixel-identical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43400" y="3291840"/>
            <a:ext cx="36118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4526280" y="3474720"/>
            <a:ext cx="502920" cy="502920"/>
          </a:xfrm>
          <a:prstGeom prst="ellipse">
            <a:avLst/>
          </a:prstGeom>
          <a:solidFill>
            <a:srgbClr val="8172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45643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Mini-Batch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0690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untouched; sampler forces ~50:50 HS:NHS per batch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38160" y="3291840"/>
            <a:ext cx="3611880" cy="1508760"/>
          </a:xfrm>
          <a:prstGeom prst="roundRect">
            <a:avLst>
              <a:gd name="adj" fmla="val 4848"/>
            </a:avLst>
          </a:prstGeom>
          <a:solidFill>
            <a:srgbClr val="F4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3474720"/>
            <a:ext cx="502920" cy="502920"/>
          </a:xfrm>
          <a:prstGeom prst="ellipse">
            <a:avLst/>
          </a:prstGeom>
          <a:solidFill>
            <a:srgbClr val="CCB97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45643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06908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undersample NHS + augmented oversample HS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Protocol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all PNGs to 64×64 grayscale, cache per benchmark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24231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6616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788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epochs, fixed seed, per (benchmark × strategy) pair — test split never touched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24231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788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Acc., Precision, Recall, Specificity, F1, full confusion matrix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24231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E6394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3544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2788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target HS:NHS ratio {0.1, 0.25, 0.5, 0.75, 1.0} for 3 strategies × 5 benchmarks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size:  </a:t>
            </a:r>
            <a:pPr indent="0" marL="0">
              <a:buNone/>
            </a:pPr>
            <a:r>
              <a:rPr lang="en-US" sz="13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benchmarks × 6 strategies = 30 main runs, + 3 strategies × 5 ratios × 5 benchmarks = 75 ablation runs  </a:t>
            </a:r>
            <a:pPr indent="0" marL="0">
              <a:buNone/>
            </a:pPr>
            <a:r>
              <a:rPr lang="en-US" sz="1350" i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(105 total training runs)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rule: balancing/augmentation is applied only to the training split. Every test split stays in its natural, imbalanced form so reported metrics reflect real deployment conditions.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Average Performance Across All 5 Benchmarks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0020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Balanced Accuracy per Benchmark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0020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strategy wins almost everywhere. One fails when it matters most.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1B3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MINI-BATCH SAMPLING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0.945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balanced accuracy — best of all 6 strategies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3867912"/>
            <a:ext cx="82296" cy="82296"/>
          </a:xfrm>
          <a:prstGeom prst="ellipse">
            <a:avLst/>
          </a:prstGeom>
          <a:solidFill>
            <a:srgbClr val="6FCF9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15568" y="3703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or tied-best on 3 of 5 benchmarks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14400" y="4434840"/>
            <a:ext cx="82296" cy="82296"/>
          </a:xfrm>
          <a:prstGeom prst="ellipse">
            <a:avLst/>
          </a:prstGeom>
          <a:solidFill>
            <a:srgbClr val="6FCF9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15568" y="427024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0.976 even on B5 (471:1 imbalance) — no other strategy stayed reliable there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" y="5001768"/>
            <a:ext cx="82296" cy="82296"/>
          </a:xfrm>
          <a:prstGeom prst="ellipse">
            <a:avLst/>
          </a:prstGeom>
          <a:solidFill>
            <a:srgbClr val="6FCF9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5568" y="483717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duplicates or discards data — only changes what's sampled into each batch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5568696"/>
            <a:ext cx="82296" cy="82296"/>
          </a:xfrm>
          <a:prstGeom prst="ellipse">
            <a:avLst/>
          </a:prstGeom>
          <a:solidFill>
            <a:srgbClr val="6FCF9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15568" y="54041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Simplest to deploy: no augmentation pipeline needed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72200" y="173736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3E16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UNDERSAMPLING (RUS)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3317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0.779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7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balanced accuracy — worst of all 6 strategies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46520" y="3867912"/>
            <a:ext cx="82296" cy="8229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7688" y="3703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E1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0.000 on B5 — predicts “non-hotspot” for every single test image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46520" y="4434840"/>
            <a:ext cx="82296" cy="8229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47688" y="427024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E1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stuck at 0% recall across every tested ratio (0.1 → 1.0)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46520" y="5001768"/>
            <a:ext cx="82296" cy="8229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47688" y="483717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E1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Discarding majority data can't manufacture minority signal that was never there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46520" y="5568696"/>
            <a:ext cx="82296" cy="8229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47688" y="54041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E1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26 native HS images on B5 — too little for the model to learn from, regardless of class balance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Augmentation Helps... Until It Doesn't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 + Augmentation vs. plain duplication (ROS)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 test HS, moderate minority pool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920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394960" y="1938528"/>
            <a:ext cx="4113703" cy="274320"/>
          </a:xfrm>
          <a:prstGeom prst="rect">
            <a:avLst/>
          </a:prstGeom>
          <a:solidFill>
            <a:srgbClr val="B9C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54383" y="18928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0.978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77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ROS+Aug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395728"/>
            <a:ext cx="4172590" cy="27432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13270" y="23500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1,808 test HS, largest minority pool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337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3355848"/>
            <a:ext cx="4012753" cy="274320"/>
          </a:xfrm>
          <a:prstGeom prst="rect">
            <a:avLst/>
          </a:prstGeom>
          <a:solidFill>
            <a:srgbClr val="B9C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53433" y="33101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ROS+Aug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94960" y="3813048"/>
            <a:ext cx="4067434" cy="27432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508114" y="37673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6177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754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B5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26 original training HS images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47548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94960" y="4773168"/>
            <a:ext cx="3844503" cy="274320"/>
          </a:xfrm>
          <a:prstGeom prst="rect">
            <a:avLst/>
          </a:prstGeom>
          <a:solidFill>
            <a:srgbClr val="55A8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85183" y="47274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2120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ROS+Aug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394960" y="5230368"/>
            <a:ext cx="2973812" cy="274320"/>
          </a:xfrm>
          <a:prstGeom prst="rect">
            <a:avLst/>
          </a:prstGeom>
          <a:solidFill>
            <a:srgbClr val="E7B3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4492" y="51846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0.707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adds real value when there's already moderate minority diversity — but when almost every hotspot the model sees is a flipped/rotated copy of one of a handful of originals, it can amplify noise instead of signal.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Ablation: Effect of the Target Class Ratio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HS:NHS target ratio from 0.1 (mild) to 1.0 (fully balanced) — RUS, ROS+Aug, Combined × 5 benchmarks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74520"/>
            <a:ext cx="109728" cy="13716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 on B5 never recovers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0116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stays at exactly 0.000 across every ratio tested — confirms the failure isn't a tuning artifact; there simply isn't enough minority data to rebalance with.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410712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5F9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410712"/>
            <a:ext cx="109728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547872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Milder ratios can beat full balance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54787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B2, balanced accuracy peaks at 0.985 with only mild undersampling (ratio 0.10) vs. 0.947 at full 1:1 balance — discarding less majority data preserves more decision-boundary signal.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946904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946904"/>
            <a:ext cx="109728" cy="1371600"/>
          </a:xfrm>
          <a:prstGeom prst="rect">
            <a:avLst/>
          </a:prstGeom>
          <a:solidFill>
            <a:srgbClr val="8172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5084064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benchmarks can be unstable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508406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on B4 swings from 0.960 (ratio 0.25) to 0.562 (ratio 0.50) back up to 0.966 (ratio 1.0) — a single-seed artifact worth validating with repeated runs.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answers to our research question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94360" cy="59436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something — but not undersampling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84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that adds information beats the baseline on average. RUS, which only removes information, is the single worst performer and the only one that collapses completely on extreme imbalance.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594360" cy="59436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17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mini-batch sampling is the safest default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4015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average result, and the only strategy that stayed reliable on the most extreme benchmark — without touching the underlying dataset at all.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434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strategy is benchmark-dependent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81888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C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is a clear win on moderately imbalanced benchmarks and a clear loss on the most extreme one. There is no single recipe that is best everywhere.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4572000" cy="45720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457200"/>
            <a:ext cx="2926080" cy="2926080"/>
          </a:xfrm>
          <a:prstGeom prst="ellipse">
            <a:avLst/>
          </a:prstGeom>
          <a:solidFill>
            <a:srgbClr val="E63946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4688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918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code, cached data, figures, and the IEEE-format report are in the accompanying repository.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· Data Balancing and Augmentation Strategies for Hotspot Detection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2026-09-19T16:19:09Z</dcterms:created>
  <dcterms:modified xsi:type="dcterms:W3CDTF">2026-09-19T16:19:09Z</dcterms:modified>
</cp:coreProperties>
</file>