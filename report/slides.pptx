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Balanced Acc.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Baseline</c:v>
                  </c:pt>
                  <c:pt idx="1">
                    <c:v>RUS</c:v>
                  </c:pt>
                  <c:pt idx="2">
                    <c:v>ROS</c:v>
                  </c:pt>
                  <c:pt idx="3">
                    <c:v>ROS+Aug</c:v>
                  </c:pt>
                  <c:pt idx="4">
                    <c:v>Bal.Batch</c:v>
                  </c:pt>
                  <c:pt idx="5">
                    <c:v>Combo(50%)</c:v>
                  </c:pt>
                  <c:pt idx="6">
                    <c:v>Combo(25%)</c:v>
                  </c:pt>
                  <c:pt idx="7">
                    <c:v>Combo(B+A)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0.922</c:v>
                </c:pt>
                <c:pt idx="1">
                  <c:v>0.928</c:v>
                </c:pt>
                <c:pt idx="2">
                  <c:v>0.936</c:v>
                </c:pt>
                <c:pt idx="3">
                  <c:v>0.917</c:v>
                </c:pt>
                <c:pt idx="4">
                  <c:v>0.937</c:v>
                </c:pt>
                <c:pt idx="5">
                  <c:v>0.924</c:v>
                </c:pt>
                <c:pt idx="6">
                  <c:v>0.931</c:v>
                </c:pt>
                <c:pt idx="7">
                  <c:v>0.934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E6394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Baseline</c:v>
                  </c:pt>
                  <c:pt idx="1">
                    <c:v>RUS</c:v>
                  </c:pt>
                  <c:pt idx="2">
                    <c:v>ROS</c:v>
                  </c:pt>
                  <c:pt idx="3">
                    <c:v>ROS+Aug</c:v>
                  </c:pt>
                  <c:pt idx="4">
                    <c:v>Bal.Batch</c:v>
                  </c:pt>
                  <c:pt idx="5">
                    <c:v>Combo(50%)</c:v>
                  </c:pt>
                  <c:pt idx="6">
                    <c:v>Combo(25%)</c:v>
                  </c:pt>
                  <c:pt idx="7">
                    <c:v>Combo(B+A)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0.94</c:v>
                </c:pt>
                <c:pt idx="1">
                  <c:v>0.974</c:v>
                </c:pt>
                <c:pt idx="2">
                  <c:v>0.967</c:v>
                </c:pt>
                <c:pt idx="3">
                  <c:v>0.926</c:v>
                </c:pt>
                <c:pt idx="4">
                  <c:v>0.971</c:v>
                </c:pt>
                <c:pt idx="5">
                  <c:v>0.952</c:v>
                </c:pt>
                <c:pt idx="6">
                  <c:v>0.957</c:v>
                </c:pt>
                <c:pt idx="7">
                  <c:v>0.96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Specificity</c:v>
                </c:pt>
              </c:strCache>
            </c:strRef>
          </c:tx>
          <c:spPr>
            <a:solidFill>
              <a:srgbClr val="6A8CD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Baseline</c:v>
                  </c:pt>
                  <c:pt idx="1">
                    <c:v>RUS</c:v>
                  </c:pt>
                  <c:pt idx="2">
                    <c:v>ROS</c:v>
                  </c:pt>
                  <c:pt idx="3">
                    <c:v>ROS+Aug</c:v>
                  </c:pt>
                  <c:pt idx="4">
                    <c:v>Bal.Batch</c:v>
                  </c:pt>
                  <c:pt idx="5">
                    <c:v>Combo(50%)</c:v>
                  </c:pt>
                  <c:pt idx="6">
                    <c:v>Combo(25%)</c:v>
                  </c:pt>
                  <c:pt idx="7">
                    <c:v>Combo(B+A)</c:v>
                  </c:pt>
                </c:lvl>
              </c:multiLvlStrCache>
            </c:multiLvl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0.905</c:v>
                </c:pt>
                <c:pt idx="1">
                  <c:v>0.883</c:v>
                </c:pt>
                <c:pt idx="2">
                  <c:v>0.905</c:v>
                </c:pt>
                <c:pt idx="3">
                  <c:v>0.908</c:v>
                </c:pt>
                <c:pt idx="4">
                  <c:v>0.903</c:v>
                </c:pt>
                <c:pt idx="5">
                  <c:v>0.895</c:v>
                </c:pt>
                <c:pt idx="6">
                  <c:v>0.904</c:v>
                </c:pt>
                <c:pt idx="7">
                  <c:v>0.908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PR-AUC</c:v>
                </c:pt>
              </c:strCache>
            </c:strRef>
          </c:tx>
          <c:spPr>
            <a:solidFill>
              <a:srgbClr val="C9A22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Baseline</c:v>
                  </c:pt>
                  <c:pt idx="1">
                    <c:v>RUS</c:v>
                  </c:pt>
                  <c:pt idx="2">
                    <c:v>ROS</c:v>
                  </c:pt>
                  <c:pt idx="3">
                    <c:v>ROS+Aug</c:v>
                  </c:pt>
                  <c:pt idx="4">
                    <c:v>Bal.Batch</c:v>
                  </c:pt>
                  <c:pt idx="5">
                    <c:v>Combo(50%)</c:v>
                  </c:pt>
                  <c:pt idx="6">
                    <c:v>Combo(25%)</c:v>
                  </c:pt>
                  <c:pt idx="7">
                    <c:v>Combo(B+A)</c:v>
                  </c:pt>
                </c:lvl>
              </c:multiLvlStrCache>
            </c:multiLvlStrRef>
          </c:cat>
          <c:val>
            <c:numRef>
              <c:f>Sheet1!$E$2:$E$9</c:f>
              <c:numCache>
                <c:formatCode>General</c:formatCode>
                <c:ptCount val="8"/>
                <c:pt idx="0">
                  <c:v>0.664</c:v>
                </c:pt>
                <c:pt idx="1">
                  <c:v>0.492</c:v>
                </c:pt>
                <c:pt idx="2">
                  <c:v>0.75</c:v>
                </c:pt>
                <c:pt idx="3">
                  <c:v>0.663</c:v>
                </c:pt>
                <c:pt idx="4">
                  <c:v>0.718</c:v>
                </c:pt>
                <c:pt idx="5">
                  <c:v>0.649</c:v>
                </c:pt>
                <c:pt idx="6">
                  <c:v>0.658</c:v>
                </c:pt>
                <c:pt idx="7">
                  <c:v>0.681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E276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E2E4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5B6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8C8C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B1</c:v>
                  </c:pt>
                  <c:pt idx="1">
                    <c:v>B2</c:v>
                  </c:pt>
                  <c:pt idx="2">
                    <c:v>B3</c:v>
                  </c:pt>
                  <c:pt idx="3">
                    <c:v>B4</c:v>
                  </c:pt>
                  <c:pt idx="4">
                    <c:v>B5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0.811</c:v>
                </c:pt>
                <c:pt idx="1">
                  <c:v>0.986</c:v>
                </c:pt>
                <c:pt idx="2">
                  <c:v>0.963</c:v>
                </c:pt>
                <c:pt idx="3">
                  <c:v>0.929</c:v>
                </c:pt>
                <c:pt idx="4">
                  <c:v>0.923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RUS</c:v>
                </c:pt>
              </c:strCache>
            </c:strRef>
          </c:tx>
          <c:spPr>
            <a:solidFill>
              <a:srgbClr val="4C72B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B1</c:v>
                  </c:pt>
                  <c:pt idx="1">
                    <c:v>B2</c:v>
                  </c:pt>
                  <c:pt idx="2">
                    <c:v>B3</c:v>
                  </c:pt>
                  <c:pt idx="3">
                    <c:v>B4</c:v>
                  </c:pt>
                  <c:pt idx="4">
                    <c:v>B5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0.81</c:v>
                </c:pt>
                <c:pt idx="1">
                  <c:v>0.978</c:v>
                </c:pt>
                <c:pt idx="2">
                  <c:v>0.958</c:v>
                </c:pt>
                <c:pt idx="3">
                  <c:v>0.937</c:v>
                </c:pt>
                <c:pt idx="4">
                  <c:v>0.957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ROS</c:v>
                </c:pt>
              </c:strCache>
            </c:strRef>
          </c:tx>
          <c:spPr>
            <a:solidFill>
              <a:srgbClr val="55A86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B1</c:v>
                  </c:pt>
                  <c:pt idx="1">
                    <c:v>B2</c:v>
                  </c:pt>
                  <c:pt idx="2">
                    <c:v>B3</c:v>
                  </c:pt>
                  <c:pt idx="3">
                    <c:v>B4</c:v>
                  </c:pt>
                  <c:pt idx="4">
                    <c:v>B5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0.808</c:v>
                </c:pt>
                <c:pt idx="1">
                  <c:v>0.984</c:v>
                </c:pt>
                <c:pt idx="2">
                  <c:v>0.957</c:v>
                </c:pt>
                <c:pt idx="3">
                  <c:v>0.962</c:v>
                </c:pt>
                <c:pt idx="4">
                  <c:v>0.969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ROS+Aug</c:v>
                </c:pt>
              </c:strCache>
            </c:strRef>
          </c:tx>
          <c:spPr>
            <a:solidFill>
              <a:srgbClr val="C44E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B1</c:v>
                  </c:pt>
                  <c:pt idx="1">
                    <c:v>B2</c:v>
                  </c:pt>
                  <c:pt idx="2">
                    <c:v>B3</c:v>
                  </c:pt>
                  <c:pt idx="3">
                    <c:v>B4</c:v>
                  </c:pt>
                  <c:pt idx="4">
                    <c:v>B5</c:v>
                  </c:pt>
                </c:lvl>
              </c:multiLvlStrCache>
            </c:multiLvl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0.804</c:v>
                </c:pt>
                <c:pt idx="1">
                  <c:v>0.975</c:v>
                </c:pt>
                <c:pt idx="2">
                  <c:v>0.968</c:v>
                </c:pt>
                <c:pt idx="3">
                  <c:v>0.938</c:v>
                </c:pt>
                <c:pt idx="4">
                  <c:v>0.901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Bal.Batch</c:v>
                </c:pt>
              </c:strCache>
            </c:strRef>
          </c:tx>
          <c:spPr>
            <a:solidFill>
              <a:srgbClr val="8172B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B1</c:v>
                  </c:pt>
                  <c:pt idx="1">
                    <c:v>B2</c:v>
                  </c:pt>
                  <c:pt idx="2">
                    <c:v>B3</c:v>
                  </c:pt>
                  <c:pt idx="3">
                    <c:v>B4</c:v>
                  </c:pt>
                  <c:pt idx="4">
                    <c:v>B5</c:v>
                  </c:pt>
                </c:lvl>
              </c:multiLvlStrCache>
            </c:multiLvlStrRef>
          </c:cat>
          <c:val>
            <c:numRef>
              <c:f>Sheet1!$F$2:$F$6</c:f>
              <c:numCache>
                <c:formatCode>General</c:formatCode>
                <c:ptCount val="5"/>
                <c:pt idx="0">
                  <c:v>0.808</c:v>
                </c:pt>
                <c:pt idx="1">
                  <c:v>0.99</c:v>
                </c:pt>
                <c:pt idx="2">
                  <c:v>0.958</c:v>
                </c:pt>
                <c:pt idx="3">
                  <c:v>0.958</c:v>
                </c:pt>
                <c:pt idx="4">
                  <c:v>0.971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Combo(50%)</c:v>
                </c:pt>
              </c:strCache>
            </c:strRef>
          </c:tx>
          <c:spPr>
            <a:solidFill>
              <a:srgbClr val="CCB97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B1</c:v>
                  </c:pt>
                  <c:pt idx="1">
                    <c:v>B2</c:v>
                  </c:pt>
                  <c:pt idx="2">
                    <c:v>B3</c:v>
                  </c:pt>
                  <c:pt idx="3">
                    <c:v>B4</c:v>
                  </c:pt>
                  <c:pt idx="4">
                    <c:v>B5</c:v>
                  </c:pt>
                </c:lvl>
              </c:multiLvlStrCache>
            </c:multiLvlStrRef>
          </c:cat>
          <c:val>
            <c:numRef>
              <c:f>Sheet1!$G$2:$G$6</c:f>
              <c:numCache>
                <c:formatCode>General</c:formatCode>
                <c:ptCount val="5"/>
                <c:pt idx="0">
                  <c:v>0.806</c:v>
                </c:pt>
                <c:pt idx="1">
                  <c:v>0.93</c:v>
                </c:pt>
                <c:pt idx="2">
                  <c:v>0.957</c:v>
                </c:pt>
                <c:pt idx="3">
                  <c:v>0.949</c:v>
                </c:pt>
                <c:pt idx="4">
                  <c:v>0.975</c:v>
                </c:pt>
              </c:numCache>
            </c:numRef>
          </c:val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Combo(25%)</c:v>
                </c:pt>
              </c:strCache>
            </c:strRef>
          </c:tx>
          <c:spPr>
            <a:solidFill>
              <a:srgbClr val="64B5C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B1</c:v>
                  </c:pt>
                  <c:pt idx="1">
                    <c:v>B2</c:v>
                  </c:pt>
                  <c:pt idx="2">
                    <c:v>B3</c:v>
                  </c:pt>
                  <c:pt idx="3">
                    <c:v>B4</c:v>
                  </c:pt>
                  <c:pt idx="4">
                    <c:v>B5</c:v>
                  </c:pt>
                </c:lvl>
              </c:multiLvlStrCache>
            </c:multiLvlStrRef>
          </c:cat>
          <c:val>
            <c:numRef>
              <c:f>Sheet1!$H$2:$H$6</c:f>
              <c:numCache>
                <c:formatCode>General</c:formatCode>
                <c:ptCount val="5"/>
                <c:pt idx="0">
                  <c:v>0.806</c:v>
                </c:pt>
                <c:pt idx="1">
                  <c:v>0.973</c:v>
                </c:pt>
                <c:pt idx="2">
                  <c:v>0.959</c:v>
                </c:pt>
                <c:pt idx="3">
                  <c:v>0.961</c:v>
                </c:pt>
                <c:pt idx="4">
                  <c:v>0.955</c:v>
                </c:pt>
              </c:numCache>
            </c:numRef>
          </c:val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Combo(B+A)</c:v>
                </c:pt>
              </c:strCache>
            </c:strRef>
          </c:tx>
          <c:spPr>
            <a:solidFill>
              <a:srgbClr val="E07B3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B1</c:v>
                  </c:pt>
                  <c:pt idx="1">
                    <c:v>B2</c:v>
                  </c:pt>
                  <c:pt idx="2">
                    <c:v>B3</c:v>
                  </c:pt>
                  <c:pt idx="3">
                    <c:v>B4</c:v>
                  </c:pt>
                  <c:pt idx="4">
                    <c:v>B5</c:v>
                  </c:pt>
                </c:lvl>
              </c:multiLvlStrCache>
            </c:multiLvlStrRef>
          </c:cat>
          <c:val>
            <c:numRef>
              <c:f>Sheet1!$I$2:$I$6</c:f>
              <c:numCache>
                <c:formatCode>General</c:formatCode>
                <c:ptCount val="5"/>
                <c:pt idx="0">
                  <c:v>0.807</c:v>
                </c:pt>
                <c:pt idx="1">
                  <c:v>0.971</c:v>
                </c:pt>
                <c:pt idx="2">
                  <c:v>0.965</c:v>
                </c:pt>
                <c:pt idx="3">
                  <c:v>0.953</c:v>
                </c:pt>
                <c:pt idx="4">
                  <c:v>0.974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E2E4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5B6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4572000" cy="45720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-457200"/>
            <a:ext cx="2926080" cy="2926080"/>
          </a:xfrm>
          <a:prstGeom prst="ellipse">
            <a:avLst/>
          </a:prstGeom>
          <a:solidFill>
            <a:srgbClr val="E63946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371600" y="4754880"/>
            <a:ext cx="3657600" cy="36576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41732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DA3 REVISION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874520"/>
            <a:ext cx="9875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BALANCING &amp; AUGMENTATION</a:t>
            </a:r>
            <a:endParaRPr lang="en-US" sz="3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STRATEGIES FOR HOTSPOT DETECTION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3832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Lithography Hotspot Detection on the ICCAD-12 Benchmark: Revised per Reviewer Feedback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4114800"/>
            <a:ext cx="1463040" cy="36576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43891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BEVD402L: AI and Machine Learning for IC  |  Digital Assignment III  |  Group 11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49834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Priyanuj Boruah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AEB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23BVD1066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931920" y="49834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Kartik Aggarwal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AEB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23BVD1067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6126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https://github.com/&lt;your-github-username&gt;/Lithography-Hotspot-Detection-G11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F4F5F9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73736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171907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2112264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Lithography hotspots &amp; severe class imbalance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92240" y="160020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F4F5F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720840" y="173736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7543800" y="171907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Revised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543800" y="2112264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split, equal steps, seeds, PR-AUC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01752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F4F5F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315468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313639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3529584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CNN backbone + 8 balancing strategies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92240" y="301752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F4F5F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720840" y="315468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7543800" y="313639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543800" y="3529584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comparison across 5 benchmarks, 3 seeds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43484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F4F5F9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77240" y="457200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000" dirty="0"/>
          </a:p>
        </p:txBody>
      </p:sp>
      <p:sp>
        <p:nvSpPr>
          <p:cNvPr id="21" name="Text 19"/>
          <p:cNvSpPr txBox="1"/>
          <p:nvPr/>
        </p:nvSpPr>
        <p:spPr>
          <a:xfrm>
            <a:off x="1600200" y="455371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600200" y="4946904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DA2's conclusions changed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92240" y="443484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F4F5F9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720840" y="457200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000" dirty="0"/>
          </a:p>
        </p:txBody>
      </p:sp>
      <p:sp>
        <p:nvSpPr>
          <p:cNvPr id="25" name="Text 23"/>
          <p:cNvSpPr txBox="1"/>
          <p:nvPr/>
        </p:nvSpPr>
        <p:spPr>
          <a:xfrm>
            <a:off x="7543800" y="455371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Addressed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7543800" y="4946904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reviewer point, mapped to our response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11 (DA3 Revision) · Data Balancing and Augmentation Strategies for Hotspot Detection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Problem: Lithography Hotspots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5943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Photo-lithography prints chip layouts onto silicon. 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transistors shrink, some layout patterns become too fine to print correctly.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679192"/>
            <a:ext cx="91440" cy="9144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2532888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“hotspot” is a layout region likely to print as a broken (open) or shorted (bridging) circuit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3246120"/>
            <a:ext cx="91440" cy="9144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3099816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Catching hotspots early avoids costly re-spins and mask corrections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813048"/>
            <a:ext cx="91440" cy="9144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3666744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lithography simulation is accurate but far too slow for full-chip checks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379976"/>
            <a:ext cx="91440" cy="9144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4233672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Machine learning offers a fast screening alternative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949440" y="1554480"/>
            <a:ext cx="4663440" cy="4206240"/>
          </a:xfrm>
          <a:prstGeom prst="roundRect">
            <a:avLst>
              <a:gd name="adj" fmla="val 1304"/>
            </a:avLst>
          </a:prstGeom>
          <a:solidFill>
            <a:srgbClr val="141B4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223760" y="17373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B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SIMPLIFIED LAYOUT CLIP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406640" y="2194560"/>
            <a:ext cx="164592" cy="301752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5" name="Shape 13"/>
          <p:cNvSpPr/>
          <p:nvPr/>
        </p:nvSpPr>
        <p:spPr>
          <a:xfrm>
            <a:off x="8183880" y="2194560"/>
            <a:ext cx="164592" cy="301752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6" name="Shape 14"/>
          <p:cNvSpPr/>
          <p:nvPr/>
        </p:nvSpPr>
        <p:spPr>
          <a:xfrm>
            <a:off x="8961120" y="2194560"/>
            <a:ext cx="164592" cy="301752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7" name="Shape 15"/>
          <p:cNvSpPr/>
          <p:nvPr/>
        </p:nvSpPr>
        <p:spPr>
          <a:xfrm>
            <a:off x="9738360" y="2194560"/>
            <a:ext cx="164592" cy="301752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8" name="Shape 16"/>
          <p:cNvSpPr/>
          <p:nvPr/>
        </p:nvSpPr>
        <p:spPr>
          <a:xfrm>
            <a:off x="10515600" y="2194560"/>
            <a:ext cx="164592" cy="301752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9" name="Shape 17"/>
          <p:cNvSpPr/>
          <p:nvPr/>
        </p:nvSpPr>
        <p:spPr>
          <a:xfrm>
            <a:off x="7406640" y="3383280"/>
            <a:ext cx="3749040" cy="164592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20" name="Shape 18"/>
          <p:cNvSpPr/>
          <p:nvPr/>
        </p:nvSpPr>
        <p:spPr>
          <a:xfrm>
            <a:off x="8823960" y="3154680"/>
            <a:ext cx="822960" cy="822960"/>
          </a:xfrm>
          <a:prstGeom prst="ellipse">
            <a:avLst/>
          </a:prstGeom>
          <a:solidFill>
            <a:srgbClr val="E63946">
              <a:alpha val="45000"/>
            </a:srgbClr>
          </a:solidFill>
          <a:ln w="25400">
            <a:solidFill>
              <a:srgbClr val="E6394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223760" y="47091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HOTSPOT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(pinch risk)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11 (DA3 Revision) · Data Balancing and Augmentation Strategies for Hotspot Detection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Real Challenge: Severe Class Imbalance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ICCAD-12 test-set imbalance ratio (Non-Hotspot : Hotspot)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121408" cy="3291840"/>
          </a:xfrm>
          <a:prstGeom prst="roundRect">
            <a:avLst>
              <a:gd name="adj" fmla="val 3448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965960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468880"/>
            <a:ext cx="1938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20.7:1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200400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NHS : HS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4114800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226 HS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4480560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4,679 NHS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807208" y="1783080"/>
            <a:ext cx="2121408" cy="3291840"/>
          </a:xfrm>
          <a:prstGeom prst="roundRect">
            <a:avLst>
              <a:gd name="adj" fmla="val 3448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944368" y="1965960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898648" y="2468880"/>
            <a:ext cx="1938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82.9:1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2944368" y="3200400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NHS : HS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2944368" y="4114800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498 HS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944368" y="4480560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41,298 NHS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65776" y="1783080"/>
            <a:ext cx="2121408" cy="3291840"/>
          </a:xfrm>
          <a:prstGeom prst="roundRect">
            <a:avLst>
              <a:gd name="adj" fmla="val 3448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202936" y="1965960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157216" y="2468880"/>
            <a:ext cx="1938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25.6:1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5202936" y="3200400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NHS : HS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5202936" y="4114800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1808 HS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202936" y="4480560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46,333 NHS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324344" y="1783080"/>
            <a:ext cx="2121408" cy="3291840"/>
          </a:xfrm>
          <a:prstGeom prst="roundRect">
            <a:avLst>
              <a:gd name="adj" fmla="val 3448"/>
            </a:avLst>
          </a:prstGeom>
          <a:solidFill>
            <a:srgbClr val="1E276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461504" y="1965960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B4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415784" y="2468880"/>
            <a:ext cx="1938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180.2:1</a:t>
            </a:r>
            <a:endParaRPr lang="en-US" sz="2400" dirty="0"/>
          </a:p>
        </p:txBody>
      </p:sp>
      <p:sp>
        <p:nvSpPr>
          <p:cNvPr id="25" name="Text 23"/>
          <p:cNvSpPr txBox="1"/>
          <p:nvPr/>
        </p:nvSpPr>
        <p:spPr>
          <a:xfrm>
            <a:off x="7461504" y="3200400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NHS : HS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7461504" y="4114800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177 HS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461504" y="4480560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31,890 NHS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582912" y="1783080"/>
            <a:ext cx="2121408" cy="3291840"/>
          </a:xfrm>
          <a:prstGeom prst="roundRect">
            <a:avLst>
              <a:gd name="adj" fmla="val 3448"/>
            </a:avLst>
          </a:prstGeom>
          <a:solidFill>
            <a:srgbClr val="E63946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720072" y="1965960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B5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9674352" y="2468880"/>
            <a:ext cx="1938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471.4:1</a:t>
            </a:r>
            <a:endParaRPr lang="en-US" sz="2400" dirty="0"/>
          </a:p>
        </p:txBody>
      </p:sp>
      <p:sp>
        <p:nvSpPr>
          <p:cNvPr id="31" name="Text 29"/>
          <p:cNvSpPr txBox="1"/>
          <p:nvPr/>
        </p:nvSpPr>
        <p:spPr>
          <a:xfrm>
            <a:off x="9720072" y="3200400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NHS : HS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9720072" y="4114800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HS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9720072" y="4480560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19,327 NHS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5349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classifier that always predicts “Non-Hotspot” scores &gt;99% raw accuracy on B5, and catches zero hotspots. This is why Balanced Accuracy and PR-AUC, not accuracy, drive this whole study.</a:t>
            </a:r>
            <a:endParaRPr lang="en-US" sz="135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11 (DA3 Revision) · Data Balancing and Augmentation Strategies for Hotspot Detection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5544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RESEARCH QUESTION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057400"/>
            <a:ext cx="10515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data-balancing strategy provides the most effective improvement for highly imbalanced ICCAD-12 hotspot detection?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343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DA3 revision: our DA2 answer was contaminated by an unfair training protocol. This talk is as much about that correction as it is about the original question.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11 (DA3 Revision) · Data Balancing and Augmentation Strategies for Hotspot Detection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Classification Backbone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lightweight CNN for every strategy isolates the effect of the training data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20848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5146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64×64×1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grayscale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2651760" y="237744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907792" y="1920240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E6394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999232" y="20848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Block 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999232" y="25146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 Conv(3×3,12)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+BN +ELU +Pool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4919472" y="237744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175504" y="1920240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266944" y="20848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266944" y="25146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downsample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7187184" y="237744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443216" y="1920240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E6394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534656" y="20848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Block 2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534656" y="25146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 Conv(3×3,12)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+BN +ELU +Pool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9454896" y="237744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9710928" y="1920240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802368" y="20848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 Head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9802368" y="25146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Flatten→Dropout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→FC(10)→FC(1)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0080" y="3749040"/>
            <a:ext cx="3383280" cy="1417320"/>
          </a:xfrm>
          <a:prstGeom prst="roundRect">
            <a:avLst>
              <a:gd name="adj" fmla="val 5161"/>
            </a:avLst>
          </a:prstGeom>
          <a:solidFill>
            <a:srgbClr val="F4F5F9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68680" y="385876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8,649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868680" y="438912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trainable parameters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297680" y="3749040"/>
            <a:ext cx="3383280" cy="1417320"/>
          </a:xfrm>
          <a:prstGeom prst="roundRect">
            <a:avLst>
              <a:gd name="adj" fmla="val 5161"/>
            </a:avLst>
          </a:prstGeom>
          <a:solidFill>
            <a:srgbClr val="F4F5F9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526280" y="385876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PyTorch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4526280" y="438912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re-implementation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955280" y="3749040"/>
            <a:ext cx="3383280" cy="1417320"/>
          </a:xfrm>
          <a:prstGeom prst="roundRect">
            <a:avLst>
              <a:gd name="adj" fmla="val 5161"/>
            </a:avLst>
          </a:prstGeom>
          <a:solidFill>
            <a:srgbClr val="F4F5F9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183880" y="385876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Equal steps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8183880" y="438912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epochs: fixed per-benchmark gradient-update budget for every strategy (DA3)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640080" y="5349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order of magnitude as the reference paper's custom CNN (12,873 params). A held-out validation split now selects the training checkpoint; the test split is touched exactly once per run.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11 (DA3 Revision) · Data Balancing and Augmentation Strategies for Hotspot Detection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Eight Data Strategies, One Fair Comparison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new combined variants added in direct response to DA3 feedback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2697480" cy="1508760"/>
          </a:xfrm>
          <a:prstGeom prst="roundRect">
            <a:avLst>
              <a:gd name="adj" fmla="val 4848"/>
            </a:avLst>
          </a:prstGeom>
          <a:solidFill>
            <a:srgbClr val="F4F5F9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901952"/>
            <a:ext cx="457200" cy="457200"/>
          </a:xfrm>
          <a:prstGeom prst="ellipse">
            <a:avLst/>
          </a:prstGeom>
          <a:solidFill>
            <a:srgbClr val="8C8C8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67512" y="1901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67512" y="2395728"/>
            <a:ext cx="2368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667512" y="2816352"/>
            <a:ext cx="2368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imbalance, no intervention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64992" y="1737360"/>
            <a:ext cx="2697480" cy="1508760"/>
          </a:xfrm>
          <a:prstGeom prst="roundRect">
            <a:avLst>
              <a:gd name="adj" fmla="val 4848"/>
            </a:avLst>
          </a:prstGeom>
          <a:solidFill>
            <a:srgbClr val="F4F5F9"/>
          </a:solidFill>
          <a:ln/>
        </p:spPr>
      </p:sp>
      <p:sp>
        <p:nvSpPr>
          <p:cNvPr id="10" name="Shape 8"/>
          <p:cNvSpPr/>
          <p:nvPr/>
        </p:nvSpPr>
        <p:spPr>
          <a:xfrm>
            <a:off x="3529584" y="1901952"/>
            <a:ext cx="457200" cy="457200"/>
          </a:xfrm>
          <a:prstGeom prst="ellipse">
            <a:avLst/>
          </a:prstGeom>
          <a:solidFill>
            <a:srgbClr val="4C72B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529584" y="1901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529584" y="2395728"/>
            <a:ext cx="2368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Undersampling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3529584" y="2816352"/>
            <a:ext cx="2368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Discard majority (NHS) samples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227064" y="1737360"/>
            <a:ext cx="2697480" cy="1508760"/>
          </a:xfrm>
          <a:prstGeom prst="roundRect">
            <a:avLst>
              <a:gd name="adj" fmla="val 4848"/>
            </a:avLst>
          </a:prstGeom>
          <a:solidFill>
            <a:srgbClr val="F4F5F9"/>
          </a:solidFill>
          <a:ln/>
        </p:spPr>
      </p:sp>
      <p:sp>
        <p:nvSpPr>
          <p:cNvPr id="15" name="Shape 13"/>
          <p:cNvSpPr/>
          <p:nvPr/>
        </p:nvSpPr>
        <p:spPr>
          <a:xfrm>
            <a:off x="6391656" y="1901952"/>
            <a:ext cx="457200" cy="457200"/>
          </a:xfrm>
          <a:prstGeom prst="ellipse">
            <a:avLst/>
          </a:prstGeom>
          <a:solidFill>
            <a:srgbClr val="55A86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391656" y="1901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391656" y="2395728"/>
            <a:ext cx="2368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Oversampling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391656" y="2816352"/>
            <a:ext cx="2368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minority (HS) samples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089136" y="1737360"/>
            <a:ext cx="2697480" cy="1508760"/>
          </a:xfrm>
          <a:prstGeom prst="roundRect">
            <a:avLst>
              <a:gd name="adj" fmla="val 4848"/>
            </a:avLst>
          </a:prstGeom>
          <a:solidFill>
            <a:srgbClr val="F4F5F9"/>
          </a:solidFill>
          <a:ln/>
        </p:spPr>
      </p:sp>
      <p:sp>
        <p:nvSpPr>
          <p:cNvPr id="20" name="Shape 18"/>
          <p:cNvSpPr/>
          <p:nvPr/>
        </p:nvSpPr>
        <p:spPr>
          <a:xfrm>
            <a:off x="9253728" y="1901952"/>
            <a:ext cx="457200" cy="457200"/>
          </a:xfrm>
          <a:prstGeom prst="ellipse">
            <a:avLst/>
          </a:prstGeom>
          <a:solidFill>
            <a:srgbClr val="C44E5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253728" y="1901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253728" y="2395728"/>
            <a:ext cx="2368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Oversampling + Aug.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9253728" y="2816352"/>
            <a:ext cx="2368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+ flip/rotate HS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02920" y="3429000"/>
            <a:ext cx="2697480" cy="1508760"/>
          </a:xfrm>
          <a:prstGeom prst="roundRect">
            <a:avLst>
              <a:gd name="adj" fmla="val 4848"/>
            </a:avLst>
          </a:prstGeom>
          <a:solidFill>
            <a:srgbClr val="F4F5F9"/>
          </a:solidFill>
          <a:ln/>
        </p:spPr>
      </p:sp>
      <p:sp>
        <p:nvSpPr>
          <p:cNvPr id="25" name="Shape 23"/>
          <p:cNvSpPr/>
          <p:nvPr/>
        </p:nvSpPr>
        <p:spPr>
          <a:xfrm>
            <a:off x="667512" y="3593592"/>
            <a:ext cx="457200" cy="457200"/>
          </a:xfrm>
          <a:prstGeom prst="ellipse">
            <a:avLst/>
          </a:prstGeom>
          <a:solidFill>
            <a:srgbClr val="8172B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7512" y="3593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67512" y="4087368"/>
            <a:ext cx="2368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Mini-Batch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667512" y="4507992"/>
            <a:ext cx="2368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Sampler forces ~50:50 per batch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364992" y="3429000"/>
            <a:ext cx="2697480" cy="1508760"/>
          </a:xfrm>
          <a:prstGeom prst="roundRect">
            <a:avLst>
              <a:gd name="adj" fmla="val 4848"/>
            </a:avLst>
          </a:prstGeom>
          <a:solidFill>
            <a:srgbClr val="F4F5F9"/>
          </a:solidFill>
          <a:ln/>
        </p:spPr>
      </p:sp>
      <p:sp>
        <p:nvSpPr>
          <p:cNvPr id="30" name="Shape 28"/>
          <p:cNvSpPr/>
          <p:nvPr/>
        </p:nvSpPr>
        <p:spPr>
          <a:xfrm>
            <a:off x="3529584" y="3593592"/>
            <a:ext cx="457200" cy="457200"/>
          </a:xfrm>
          <a:prstGeom prst="ellipse">
            <a:avLst/>
          </a:prstGeom>
          <a:solidFill>
            <a:srgbClr val="CCB974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3529584" y="3593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3529584" y="4087368"/>
            <a:ext cx="2368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Combo (50% US)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3529584" y="4507992"/>
            <a:ext cx="2368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Undersample NHS + aug-oversample HS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227064" y="3429000"/>
            <a:ext cx="2697480" cy="1508760"/>
          </a:xfrm>
          <a:prstGeom prst="roundRect">
            <a:avLst>
              <a:gd name="adj" fmla="val 4848"/>
            </a:avLst>
          </a:prstGeom>
          <a:solidFill>
            <a:srgbClr val="F4F5F9"/>
          </a:solidFill>
          <a:ln/>
        </p:spPr>
      </p:sp>
      <p:sp>
        <p:nvSpPr>
          <p:cNvPr id="35" name="Shape 33"/>
          <p:cNvSpPr/>
          <p:nvPr/>
        </p:nvSpPr>
        <p:spPr>
          <a:xfrm>
            <a:off x="6391656" y="3593592"/>
            <a:ext cx="457200" cy="457200"/>
          </a:xfrm>
          <a:prstGeom prst="ellipse">
            <a:avLst/>
          </a:prstGeom>
          <a:solidFill>
            <a:srgbClr val="64B5CD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391656" y="3593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6391656" y="4087368"/>
            <a:ext cx="2368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Combo-Mild (25% US)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6391656" y="4507992"/>
            <a:ext cx="2368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Same, milder undersampling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9089136" y="3429000"/>
            <a:ext cx="2697480" cy="1508760"/>
          </a:xfrm>
          <a:prstGeom prst="roundRect">
            <a:avLst>
              <a:gd name="adj" fmla="val 4848"/>
            </a:avLst>
          </a:prstGeom>
          <a:solidFill>
            <a:srgbClr val="F4F5F9"/>
          </a:solidFill>
          <a:ln/>
        </p:spPr>
      </p:sp>
      <p:sp>
        <p:nvSpPr>
          <p:cNvPr id="40" name="Shape 38"/>
          <p:cNvSpPr/>
          <p:nvPr/>
        </p:nvSpPr>
        <p:spPr>
          <a:xfrm>
            <a:off x="9253728" y="3593592"/>
            <a:ext cx="457200" cy="457200"/>
          </a:xfrm>
          <a:prstGeom prst="ellipse">
            <a:avLst/>
          </a:prstGeom>
          <a:solidFill>
            <a:srgbClr val="E07B39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9253728" y="3593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9253728" y="4087368"/>
            <a:ext cx="2368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Combo (Batch+Aug)</a:t>
            </a:r>
            <a:endParaRPr lang="en-US" sz="1150" dirty="0"/>
          </a:p>
        </p:txBody>
      </p:sp>
      <p:sp>
        <p:nvSpPr>
          <p:cNvPr id="43" name="Text 41"/>
          <p:cNvSpPr txBox="1"/>
          <p:nvPr/>
        </p:nvSpPr>
        <p:spPr>
          <a:xfrm>
            <a:off x="9253728" y="4507992"/>
            <a:ext cx="2368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batch + stochastic aug.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11 (DA3 Revision) · Data Balancing and Augmentation Strategies for Hotspot Detection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Experimental Protocol (Revised)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96596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4231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Val. Split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78892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D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 of training data carved out; fixed split seed shared by every strategy/seed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3154680" y="256032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383280" y="182880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E6394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566160" y="196596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3566160" y="24231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Steps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566160" y="278892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D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strategy trains for the same gradient-update budget per benchmark, not epochs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5989320" y="256032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217920" y="182880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E6394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0" y="196596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24231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Seeds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0" y="278892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D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42, 123, 2024: checkpoint picked on validation; test touched once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8823960" y="256032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052560" y="182880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E6394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235440" y="196596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9235440" y="24231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PR-AUC + Sig. Test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9235440" y="278892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D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Threshold-free ranking metric + paired t-test / Wilcoxon, α=0.05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41148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size:  </a:t>
            </a:r>
            <a:pPr indent="0" marL="0">
              <a:buNone/>
            </a:pPr>
            <a:r>
              <a:rPr lang="en-US" sz="13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benchmarks × 8 strategies × 3 seeds = 120 main runs, + 75 ratio-ablation runs + 9 learning-curve runs  </a:t>
            </a:r>
            <a:pPr indent="0" marL="0">
              <a:buNone/>
            </a:pPr>
            <a:r>
              <a:rPr lang="en-US" sz="1300" i="1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(204 total training runs, vs. 30 in DA2)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47548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fix: DA2 trained every strategy for a fixed 8 epochs, but RUS's smaller resampled dataset meant far fewer actual gradient updates per epoch than ROS. That confound is now removed.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11 (DA3 Revision) · Data Balancing and Augmentation Strategies for Hotspot Detection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Results: Average Performance (5 Benchmarks × 3 Seeds)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600200"/>
          <a:ext cx="1106424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11 (DA3 Revision) · Data Balancing and Augmentation Strategies for Hotspot Detection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Results: Balanced Accuracy per Benchmark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600200"/>
          <a:ext cx="1106424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11 (DA3 Revision) · Data Balancing and Augmentation Strategies for Hotspot Detection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 #1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Once training is fair, balanced accuracy barely tells strategies apart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2A1F4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1488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DA2 (unequal updates, 1 seed)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5146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0.779 – 0.945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2461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17-point spread: looked like strategy choice mattered a lot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84048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 appeared to collapse to 0% recall on the most extreme benchmark. That was our DA2 headline claim.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72200" y="192024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1B3A2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46520" y="21488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FC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DA3 (equal steps, 3 seeds)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46520" y="25146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0.917 – 0.937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32461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E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2-point spread. NO pairwise comparison is statistically significant (α=0.05)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393192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9E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 now reaches 0.957 balanced accuracy on that same benchmark. The DA2 “collapse” was a training-protocol artifact, not a property of undersampling.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11 (DA3 Revision) · Data Balancing and Augmentation Strategies for Hotspot Detection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 #2: Why RUS “Failed” in DA2: A Mechanistic Look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Per-step learning curves on Benchmark 5, across 3 seeds</a:t>
            </a:r>
            <a:endParaRPr lang="en-US" sz="1500" dirty="0"/>
          </a:p>
        </p:txBody>
      </p:sp>
      <p:pic>
        <p:nvPicPr>
          <p:cNvPr id="4" name="Image 0" descr="F:\Projects\AIML-VLSI-Project\results\figures\learning_curves_b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00200"/>
            <a:ext cx="10698480" cy="30632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480060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 memorizes its tiny resampled pool (~44 images) almost immediately: </a:t>
            </a:r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loss crashes near-zero within ~150 steps. Its validation recall peaks by step ~73 and then degrades with further training if left unchecked.</a:t>
            </a:r>
            <a:endParaRPr lang="en-US" sz="125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544068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Baseline, by contrast, needs the entire step budget just to start detecting hotspots at all: </a:t>
            </a:r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gradient signal from the rare positive class is heavily diluted by the natural imbalance. DA2's fixed-epoch, no-checkpoint protocol evaluated RUS at the wrong point in training.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11 (DA3 Revision) · Data Balancing and Augmentation Strategies for Hotspot Detection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PR-AUC Reveals What Balanced Accuracy Hides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Statistically significant differences (paired t-test + Wilcoxon, both p&lt;0.05)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74650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(PR-AUC)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669280" y="174650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949440" y="174650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B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174650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103120"/>
            <a:ext cx="11064240" cy="621792"/>
          </a:xfrm>
          <a:prstGeom prst="rect">
            <a:avLst/>
          </a:prstGeom>
          <a:solidFill>
            <a:srgbClr val="F4F5F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2221992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vs. RUS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669280" y="222199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0.750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949440" y="222199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0.492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0" y="222199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p=0.0048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2724912"/>
            <a:ext cx="11064240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1520" y="2843784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Bal.Batch vs. RUS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669280" y="284378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0.718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949440" y="284378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0.492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0" y="284378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p=0.019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3346704"/>
            <a:ext cx="11064240" cy="621792"/>
          </a:xfrm>
          <a:prstGeom prst="rect">
            <a:avLst/>
          </a:prstGeom>
          <a:solidFill>
            <a:srgbClr val="F4F5F9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31520" y="3465576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vs. Baseline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669280" y="346557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0.750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949440" y="346557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0.664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0" y="346557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p=0.033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3968496"/>
            <a:ext cx="11064240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31520" y="4087368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vs. ROS+Aug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669280" y="408736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0.750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949440" y="408736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0.663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8229600" y="408736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p=0.0025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4590288"/>
            <a:ext cx="11064240" cy="621792"/>
          </a:xfrm>
          <a:prstGeom prst="rect">
            <a:avLst/>
          </a:prstGeom>
          <a:solidFill>
            <a:srgbClr val="F4F5F9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31520" y="470916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Combo(B+A) vs. RUS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5669280" y="470916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0.681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949440" y="470916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0.492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8229600" y="470916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p=0.027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53492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we stop relying on a single 0.5 threshold and look at ranking quality across every threshold, RUS is reliably worse than oversampling-based strategies, just not in balanced accuracy.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11 (DA3 Revision) · Data Balancing and Augmentation Strategies for Hotspot Detection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Feedback Addressed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reviewer point for Group 11, mapped to what we did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640080"/>
          </a:xfrm>
          <a:prstGeom prst="roundRect">
            <a:avLst>
              <a:gd name="adj" fmla="val 8571"/>
            </a:avLst>
          </a:prstGeom>
          <a:solidFill>
            <a:srgbClr val="F4F5F9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984248"/>
            <a:ext cx="237744" cy="237744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965960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837944"/>
            <a:ext cx="4297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split + equal gradient updates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577840" y="1837944"/>
            <a:ext cx="5852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Done: 15% validation carve-out, step-based training, checkpoint selection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496312"/>
            <a:ext cx="11064240" cy="640080"/>
          </a:xfrm>
          <a:prstGeom prst="roundRect">
            <a:avLst>
              <a:gd name="adj" fmla="val 8571"/>
            </a:avLst>
          </a:prstGeom>
          <a:solidFill>
            <a:srgbClr val="F4F5F9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2697480"/>
            <a:ext cx="237744" cy="237744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2679192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2551176"/>
            <a:ext cx="4297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seeds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577840" y="2551176"/>
            <a:ext cx="5852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Done: 3 seeds (42/123/2024), paired t-test + Wilcoxon significance tests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209544"/>
            <a:ext cx="11064240" cy="640080"/>
          </a:xfrm>
          <a:prstGeom prst="roundRect">
            <a:avLst>
              <a:gd name="adj" fmla="val 8571"/>
            </a:avLst>
          </a:prstGeom>
          <a:solidFill>
            <a:srgbClr val="F4F5F9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3410712"/>
            <a:ext cx="237744" cy="237744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1520" y="3392424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3264408"/>
            <a:ext cx="4297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combined strategies + PR-AUC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577840" y="3264408"/>
            <a:ext cx="5852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Done: 3 combined variants (50%/25%/Batch+Aug); PR-AUC on every run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922776"/>
            <a:ext cx="11064240" cy="640080"/>
          </a:xfrm>
          <a:prstGeom prst="roundRect">
            <a:avLst>
              <a:gd name="adj" fmla="val 8571"/>
            </a:avLst>
          </a:prstGeom>
          <a:solidFill>
            <a:srgbClr val="F4F5F9"/>
          </a:solidFill>
          <a:ln/>
        </p:spPr>
      </p:sp>
      <p:sp>
        <p:nvSpPr>
          <p:cNvPr id="20" name="Shape 18"/>
          <p:cNvSpPr/>
          <p:nvPr/>
        </p:nvSpPr>
        <p:spPr>
          <a:xfrm>
            <a:off x="731520" y="4123944"/>
            <a:ext cx="237744" cy="237744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31520" y="4105656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" y="3977640"/>
            <a:ext cx="4297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Justify augmentations physically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577840" y="3977640"/>
            <a:ext cx="5852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Done: Manhattan-geometry closure + local-diffraction-physics argument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636008"/>
            <a:ext cx="11064240" cy="640080"/>
          </a:xfrm>
          <a:prstGeom prst="roundRect">
            <a:avLst>
              <a:gd name="adj" fmla="val 8571"/>
            </a:avLst>
          </a:prstGeom>
          <a:solidFill>
            <a:srgbClr val="F4F5F9"/>
          </a:solidFill>
          <a:ln/>
        </p:spPr>
      </p:sp>
      <p:sp>
        <p:nvSpPr>
          <p:cNvPr id="25" name="Shape 23"/>
          <p:cNvSpPr/>
          <p:nvPr/>
        </p:nvSpPr>
        <p:spPr>
          <a:xfrm>
            <a:off x="731520" y="4837176"/>
            <a:ext cx="237744" cy="237744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31520" y="4818888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143000" y="4690872"/>
            <a:ext cx="4297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mechanistically why RUS fails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577840" y="4690872"/>
            <a:ext cx="5852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Revised: it doesn't, once trained fairly; learning curves show why DA2 was wrong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5349240"/>
            <a:ext cx="11064240" cy="640080"/>
          </a:xfrm>
          <a:prstGeom prst="roundRect">
            <a:avLst>
              <a:gd name="adj" fmla="val 8571"/>
            </a:avLst>
          </a:prstGeom>
          <a:solidFill>
            <a:srgbClr val="F4F5F9"/>
          </a:solidFill>
          <a:ln/>
        </p:spPr>
      </p:sp>
      <p:sp>
        <p:nvSpPr>
          <p:cNvPr id="30" name="Shape 28"/>
          <p:cNvSpPr/>
          <p:nvPr/>
        </p:nvSpPr>
        <p:spPr>
          <a:xfrm>
            <a:off x="731520" y="5550408"/>
            <a:ext cx="237744" cy="237744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31520" y="5532120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1143000" y="5404104"/>
            <a:ext cx="4297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30–35+ references, validation-only tuning, published comparison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5577840" y="5404104"/>
            <a:ext cx="5852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Done: 40 refs, test touched once, compared vs. 2 published ICCAD-12 detectors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11 (DA3 Revision) · Data Balancing and Augmentation Strategies for Hotspot Detection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Ablation: Effect of the Target Class Ratio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Sweeping HS:NHS target ratio 0.1–1.0 for RUS, ROS+Aug, Combo (single seed)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4F5F9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874520"/>
            <a:ext cx="109728" cy="13716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01168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 now stable across every ratio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5029200" y="2011680"/>
            <a:ext cx="6309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Recall/specificity stay high (≥0.90 / ≥0.95) on B5 at every tested ratio, a complete reversal of the DA2 ablation, which showed RUS stuck at 0% recall regardless of ratio.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3410712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4F5F9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3410712"/>
            <a:ext cx="109728" cy="13716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3547872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RUS's PR-AUC still degrades with aggressive undersampling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5029200" y="3547872"/>
            <a:ext cx="6309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B5, RUS's PR-AUC falls from 0.80 (mild ratio) to ~0.08–0.11 (aggressive ratios) even while balanced accuracy stays flat. That is the ablation-level confirmation of the mechanistic story.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4946904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4F5F9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4946904"/>
            <a:ext cx="109728" cy="13716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5084064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strategy is flat across ratios, no DA2-style collapse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5029200" y="5084064"/>
            <a:ext cx="6309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ratio on any benchmark reproduces DA2's dramatic collapse-and-recover pattern; remaining variation is single-seed noise, a limitation we flag directly.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11 (DA3 Revision) · Data Balancing and Augmentation Strategies for Hotspot Detection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more cautious, more honest answer than DA2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94360" cy="59436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459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600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Balancing strategy matters far less than DA2 suggested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98424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C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fair training, no strategy's balanced accuracy is statistically distinguishable from any other's, including the baseline. Most of our DA2 spread was a protocol artifact.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3063240"/>
            <a:ext cx="594360" cy="59436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30632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30175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PR-AUC recovers real, significant structure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340156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C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Oversampling-based strategies (ROS especially) significantly outperform RUS on ranking quality, even though their balanced accuracies are statistically tied.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4480560"/>
            <a:ext cx="594360" cy="59436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44805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4434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RUS's real weakness is calibration, not detection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481888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C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tiny effective training set makes probability outputs fragile and poorly ranked: a narrower, more defensible mechanistic claim than DA2's “fails outright.”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11 (DA3 Revision) · Data Balancing and Augmentation Strategies for Hotspot Detection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4572000" cy="45720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-457200"/>
            <a:ext cx="2926080" cy="2926080"/>
          </a:xfrm>
          <a:prstGeom prst="ellipse">
            <a:avLst/>
          </a:prstGeom>
          <a:solidFill>
            <a:srgbClr val="E63946">
              <a:alpha val="2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22860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1089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3931920"/>
            <a:ext cx="9875520" cy="822960"/>
          </a:xfrm>
          <a:prstGeom prst="roundRect">
            <a:avLst>
              <a:gd name="adj" fmla="val 8889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60120" y="40416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B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&amp; REPRODUCIBILITY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4279392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https://github.com/&lt;your-github-username&gt;/Lithography-Hotspot-Detection-G11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49834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EB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code, cached data, figures, significance tests, and the IEEE-format report are in the repository above.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11 (DA3 Revision) · Data Balancing and Augmentation Strategies for Hotspot Detection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2026-10-12T17:32:51Z</dcterms:created>
  <dcterms:modified xsi:type="dcterms:W3CDTF">2026-10-12T17:32:51Z</dcterms:modified>
</cp:coreProperties>
</file>